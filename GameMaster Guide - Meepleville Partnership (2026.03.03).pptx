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jHnEdQCo8hMOC5rpR3ySidVxXl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6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" name="Google Shape;4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jpg"/><Relationship Id="rId4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jpg"/><Relationship Id="rId4" Type="http://schemas.openxmlformats.org/officeDocument/2006/relationships/image" Target="../media/image6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Relationship Id="rId4" Type="http://schemas.openxmlformats.org/officeDocument/2006/relationships/image" Target="../media/image8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jpg"/><Relationship Id="rId4" Type="http://schemas.openxmlformats.org/officeDocument/2006/relationships/image" Target="../media/image5.jpg"/><Relationship Id="rId5" Type="http://schemas.openxmlformats.org/officeDocument/2006/relationships/image" Target="../media/image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225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47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Trebuchet MS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GameMaster Guide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731520" y="2057400"/>
            <a:ext cx="1097280" cy="36576"/>
          </a:xfrm>
          <a:prstGeom prst="rect">
            <a:avLst/>
          </a:prstGeom>
          <a:solidFill>
            <a:srgbClr val="E847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731520" y="2286000"/>
            <a:ext cx="7680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AF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E8EAF0"/>
                </a:solidFill>
                <a:latin typeface="Calibri"/>
                <a:ea typeface="Calibri"/>
                <a:cs typeface="Calibri"/>
                <a:sym typeface="Calibri"/>
              </a:rPr>
              <a:t>30-Day Partnership Proposal for Meepleville Board Game Cafe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731520" y="2926080"/>
            <a:ext cx="7680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2B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8B92B0"/>
                </a:solidFill>
                <a:latin typeface="Calibri"/>
                <a:ea typeface="Calibri"/>
                <a:cs typeface="Calibri"/>
                <a:sym typeface="Calibri"/>
              </a:rPr>
              <a:t>Las Vegas, Nevada  |  March 2026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731520" y="4206240"/>
            <a:ext cx="7680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2B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B92B0"/>
                </a:solidFill>
                <a:latin typeface="Calibri"/>
                <a:ea typeface="Calibri"/>
                <a:cs typeface="Calibri"/>
                <a:sym typeface="Calibri"/>
              </a:rPr>
              <a:t>Prepared by Tim Pham  |  tim@playgmg.com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225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rebuchet MS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The Challenge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731520" y="1234440"/>
            <a:ext cx="7680960" cy="1051560"/>
          </a:xfrm>
          <a:prstGeom prst="rect">
            <a:avLst/>
          </a:prstGeom>
          <a:solidFill>
            <a:srgbClr val="252A4A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"/>
          <p:cNvSpPr/>
          <p:nvPr/>
        </p:nvSpPr>
        <p:spPr>
          <a:xfrm>
            <a:off x="731520" y="1234440"/>
            <a:ext cx="54864" cy="1051560"/>
          </a:xfrm>
          <a:prstGeom prst="rect">
            <a:avLst/>
          </a:prstGeom>
          <a:solidFill>
            <a:srgbClr val="E847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"/>
          <p:cNvSpPr/>
          <p:nvPr/>
        </p:nvSpPr>
        <p:spPr>
          <a:xfrm>
            <a:off x="1005840" y="137160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475F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E8475F"/>
                </a:solidFill>
                <a:latin typeface="Trebuchet MS"/>
                <a:ea typeface="Trebuchet MS"/>
                <a:cs typeface="Trebuchet MS"/>
                <a:sym typeface="Trebuchet MS"/>
              </a:rPr>
              <a:t>01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1554480" y="1344168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Teaching Bottleneck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1554480" y="1709928"/>
            <a:ext cx="6583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2B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B92B0"/>
                </a:solidFill>
                <a:latin typeface="Calibri"/>
                <a:ea typeface="Calibri"/>
                <a:cs typeface="Calibri"/>
                <a:sym typeface="Calibri"/>
              </a:rPr>
              <a:t>With 2,600+ games, staff can't teach them all. Customers pick the same 10 games they already know, leaving 95% of your library collecting dust.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731520" y="2468880"/>
            <a:ext cx="7680960" cy="1051560"/>
          </a:xfrm>
          <a:prstGeom prst="rect">
            <a:avLst/>
          </a:prstGeom>
          <a:solidFill>
            <a:srgbClr val="252A4A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731520" y="2468880"/>
            <a:ext cx="54864" cy="105156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1005840" y="260604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FBBF24"/>
                </a:solidFill>
                <a:latin typeface="Trebuchet MS"/>
                <a:ea typeface="Trebuchet MS"/>
                <a:cs typeface="Trebuchet MS"/>
                <a:sym typeface="Trebuchet MS"/>
              </a:rPr>
              <a:t>02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1554480" y="2578608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Game Finder Pain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1554480" y="2944368"/>
            <a:ext cx="6583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2B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B92B0"/>
                </a:solidFill>
                <a:latin typeface="Calibri"/>
                <a:ea typeface="Calibri"/>
                <a:cs typeface="Calibri"/>
                <a:sym typeface="Calibri"/>
              </a:rPr>
              <a:t>Staff look up games in Google Sheets to check availability and shelf location. Manual, slow, and breaks the customer experience.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731520" y="3703320"/>
            <a:ext cx="7680960" cy="1051560"/>
          </a:xfrm>
          <a:prstGeom prst="rect">
            <a:avLst/>
          </a:prstGeom>
          <a:solidFill>
            <a:srgbClr val="252A4A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731520" y="3703320"/>
            <a:ext cx="54864" cy="105156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1005840" y="384048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2DD4BF"/>
                </a:solidFill>
                <a:latin typeface="Trebuchet MS"/>
                <a:ea typeface="Trebuchet MS"/>
                <a:cs typeface="Trebuchet MS"/>
                <a:sym typeface="Trebuchet MS"/>
              </a:rPr>
              <a:t>03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1554480" y="3813048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Missed Revenue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1554480" y="4178808"/>
            <a:ext cx="6583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2B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B92B0"/>
                </a:solidFill>
                <a:latin typeface="Calibri"/>
                <a:ea typeface="Calibri"/>
                <a:cs typeface="Calibri"/>
                <a:sym typeface="Calibri"/>
              </a:rPr>
              <a:t>Customers leave the table to order at the counter, breaking game flow. Some skip ordering entirely rather than interrupt their game.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A1F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2B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2B0"/>
                </a:solidFill>
                <a:latin typeface="Calibri"/>
                <a:ea typeface="Calibri"/>
                <a:cs typeface="Calibri"/>
                <a:sym typeface="Calibri"/>
              </a:rPr>
              <a:t>GameMaster Guide  |  playgmai.com  |  tim@playgmg.com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8503920" y="4709160"/>
            <a:ext cx="457200" cy="434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2B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2B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225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"/>
          <p:cNvSpPr/>
          <p:nvPr/>
        </p:nvSpPr>
        <p:spPr>
          <a:xfrm>
            <a:off x="731520" y="274320"/>
            <a:ext cx="4572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Your Full Library, On Every Phone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654475" y="822950"/>
            <a:ext cx="43383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2B0"/>
              </a:buClr>
              <a:buSzPts val="1300"/>
              <a:buFont typeface="Calibri"/>
              <a:buNone/>
            </a:pPr>
            <a:r>
              <a:rPr lang="en-US" sz="1200">
                <a:solidFill>
                  <a:srgbClr val="8B92B0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r>
              <a:rPr b="0" i="0" lang="en-US" sz="1200" u="none" cap="none" strike="noStrike">
                <a:solidFill>
                  <a:srgbClr val="8B92B0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r>
              <a:rPr lang="en-US" sz="1200">
                <a:solidFill>
                  <a:srgbClr val="8B92B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0" i="0" lang="en-US" sz="1200" u="none" cap="none" strike="noStrike">
                <a:solidFill>
                  <a:srgbClr val="8B92B0"/>
                </a:solidFill>
                <a:latin typeface="Calibri"/>
                <a:ea typeface="Calibri"/>
                <a:cs typeface="Calibri"/>
                <a:sym typeface="Calibri"/>
              </a:rPr>
              <a:t> games searchable by category, player count, time, and difficulty</a:t>
            </a:r>
            <a:endParaRPr sz="1200">
              <a:solidFill>
                <a:srgbClr val="8B92B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2B0"/>
              </a:buClr>
              <a:buSzPts val="1300"/>
              <a:buFont typeface="Calibri"/>
              <a:buNone/>
            </a:pPr>
            <a:r>
              <a:rPr b="0" i="0" lang="en-US" sz="1200" u="none" cap="none" strike="noStrike">
                <a:solidFill>
                  <a:srgbClr val="8B92B0"/>
                </a:solidFill>
                <a:latin typeface="Calibri"/>
                <a:ea typeface="Calibri"/>
                <a:cs typeface="Calibri"/>
                <a:sym typeface="Calibri"/>
              </a:rPr>
              <a:t>Customers find exactly what they're looking for in seconds.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731520" y="1737360"/>
            <a:ext cx="1280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475F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E8475F"/>
                </a:solidFill>
                <a:latin typeface="Trebuchet MS"/>
                <a:ea typeface="Trebuchet MS"/>
                <a:cs typeface="Trebuchet MS"/>
                <a:sym typeface="Trebuchet MS"/>
              </a:rPr>
              <a:t>203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731520" y="210312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2B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B92B0"/>
                </a:solidFill>
                <a:latin typeface="Calibri"/>
                <a:ea typeface="Calibri"/>
                <a:cs typeface="Calibri"/>
                <a:sym typeface="Calibri"/>
              </a:rPr>
              <a:t>Games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2194560" y="1737360"/>
            <a:ext cx="1280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475F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E8475F"/>
                </a:solidFill>
                <a:latin typeface="Trebuchet MS"/>
                <a:ea typeface="Trebuchet MS"/>
                <a:cs typeface="Trebuchet MS"/>
                <a:sym typeface="Trebuchet MS"/>
              </a:rPr>
              <a:t>6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2194560" y="210312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2B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B92B0"/>
                </a:solidFill>
                <a:latin typeface="Calibri"/>
                <a:ea typeface="Calibri"/>
                <a:cs typeface="Calibri"/>
                <a:sym typeface="Calibri"/>
              </a:rPr>
              <a:t>Filters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3657600" y="1737360"/>
            <a:ext cx="1280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475F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E8475F"/>
                </a:solidFill>
                <a:latin typeface="Trebuchet MS"/>
                <a:ea typeface="Trebuchet MS"/>
                <a:cs typeface="Trebuchet MS"/>
                <a:sym typeface="Trebuchet MS"/>
              </a:rPr>
              <a:t>&lt; 5s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3657600" y="210312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2B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B92B0"/>
                </a:solidFill>
                <a:latin typeface="Calibri"/>
                <a:ea typeface="Calibri"/>
                <a:cs typeface="Calibri"/>
                <a:sym typeface="Calibri"/>
              </a:rPr>
              <a:t>To Find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01-game-library.png" id="59" name="Google Shape;5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7745" y="498720"/>
            <a:ext cx="4023360" cy="3017520"/>
          </a:xfrm>
          <a:prstGeom prst="rect">
            <a:avLst/>
          </a:prstGeom>
          <a:noFill/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</p:pic>
      <p:pic>
        <p:nvPicPr>
          <p:cNvPr descr="/home/claude/09-game-finder-menu.png" id="60" name="Google Shape;60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1520" y="2651760"/>
            <a:ext cx="3474720" cy="1737360"/>
          </a:xfrm>
          <a:prstGeom prst="rect">
            <a:avLst/>
          </a:prstGeom>
          <a:noFill/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</p:pic>
      <p:sp>
        <p:nvSpPr>
          <p:cNvPr id="61" name="Google Shape;61;p3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A1F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3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2B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2B0"/>
                </a:solidFill>
                <a:latin typeface="Calibri"/>
                <a:ea typeface="Calibri"/>
                <a:cs typeface="Calibri"/>
                <a:sym typeface="Calibri"/>
              </a:rPr>
              <a:t>GameMaster Guide  |  playgmai.com  |  tim@playgmg.com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8503920" y="4709160"/>
            <a:ext cx="457200" cy="434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2B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2B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225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Voice-Guided Game Teaching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731520" y="822960"/>
            <a:ext cx="7680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2B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B92B0"/>
                </a:solidFill>
                <a:latin typeface="Calibri"/>
                <a:ea typeface="Calibri"/>
                <a:cs typeface="Calibri"/>
                <a:sym typeface="Calibri"/>
              </a:rPr>
              <a:t>Every game has structured guides for Setup, Rules, and Strategy. Each section can be read aloud with text-to-speech at adjustable speeds. Multiple players at the same table follow along on their own phones.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03-game-teacher-setup.png" id="71" name="Google Shape;71;p4"/>
          <p:cNvPicPr preferRelativeResize="0"/>
          <p:nvPr/>
        </p:nvPicPr>
        <p:blipFill rotWithShape="1">
          <a:blip r:embed="rId3">
            <a:alphaModFix/>
          </a:blip>
          <a:srcRect b="0" l="19527" r="15318" t="4389"/>
          <a:stretch/>
        </p:blipFill>
        <p:spPr>
          <a:xfrm>
            <a:off x="997700" y="1371600"/>
            <a:ext cx="2850918" cy="3113300"/>
          </a:xfrm>
          <a:prstGeom prst="rect">
            <a:avLst/>
          </a:prstGeom>
          <a:noFill/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</p:pic>
      <p:pic>
        <p:nvPicPr>
          <p:cNvPr descr="/home/claude/06-game-teacher-qa.png" id="72" name="Google Shape;72;p4"/>
          <p:cNvPicPr preferRelativeResize="0"/>
          <p:nvPr/>
        </p:nvPicPr>
        <p:blipFill rotWithShape="1">
          <a:blip r:embed="rId4">
            <a:alphaModFix/>
          </a:blip>
          <a:srcRect b="0" l="16040" r="17378" t="0"/>
          <a:stretch/>
        </p:blipFill>
        <p:spPr>
          <a:xfrm>
            <a:off x="5385425" y="1554475"/>
            <a:ext cx="2617901" cy="2926076"/>
          </a:xfrm>
          <a:prstGeom prst="rect">
            <a:avLst/>
          </a:prstGeom>
          <a:noFill/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</p:pic>
      <p:sp>
        <p:nvSpPr>
          <p:cNvPr id="73" name="Google Shape;73;p4"/>
          <p:cNvSpPr/>
          <p:nvPr/>
        </p:nvSpPr>
        <p:spPr>
          <a:xfrm>
            <a:off x="457200" y="4434840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2B0"/>
                </a:solidFill>
                <a:latin typeface="Calibri"/>
                <a:ea typeface="Calibri"/>
                <a:cs typeface="Calibri"/>
                <a:sym typeface="Calibri"/>
              </a:rPr>
              <a:t>Setup Guide with Voice Playback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4754880" y="4434840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2B0"/>
                </a:solidFill>
                <a:latin typeface="Calibri"/>
                <a:ea typeface="Calibri"/>
                <a:cs typeface="Calibri"/>
                <a:sym typeface="Calibri"/>
              </a:rPr>
              <a:t>AI Q&amp;A for Mid-Game Questions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A1F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4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2B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2B0"/>
                </a:solidFill>
                <a:latin typeface="Calibri"/>
                <a:ea typeface="Calibri"/>
                <a:cs typeface="Calibri"/>
                <a:sym typeface="Calibri"/>
              </a:rPr>
              <a:t>GameMaster Guide  |  playgmai.com  |  tim@playgmg.com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8503920" y="4709160"/>
            <a:ext cx="457200" cy="434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2B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2B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225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"/>
          <p:cNvSpPr/>
          <p:nvPr/>
        </p:nvSpPr>
        <p:spPr>
          <a:xfrm>
            <a:off x="5029200" y="274320"/>
            <a:ext cx="3840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Game Finder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5029200" y="822960"/>
            <a:ext cx="3840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2B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B92B0"/>
                </a:solidFill>
                <a:latin typeface="Calibri"/>
                <a:ea typeface="Calibri"/>
                <a:cs typeface="Calibri"/>
                <a:sym typeface="Calibri"/>
              </a:rPr>
              <a:t>Replace Google Sheets with instant search. Staff and customers type a game name and instantly see if you have it and exactly where it's located on the shelf.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5029200" y="1828800"/>
            <a:ext cx="3657600" cy="640080"/>
          </a:xfrm>
          <a:prstGeom prst="rect">
            <a:avLst/>
          </a:prstGeom>
          <a:solidFill>
            <a:srgbClr val="252A4A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5"/>
          <p:cNvSpPr/>
          <p:nvPr/>
        </p:nvSpPr>
        <p:spPr>
          <a:xfrm>
            <a:off x="5212080" y="1828800"/>
            <a:ext cx="3474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475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8475F"/>
                </a:solidFill>
                <a:latin typeface="Calibri"/>
                <a:ea typeface="Calibri"/>
                <a:cs typeface="Calibri"/>
                <a:sym typeface="Calibri"/>
              </a:rPr>
              <a:t>Before: </a:t>
            </a:r>
            <a:r>
              <a:rPr b="0" i="0" lang="en-US" sz="1200" u="none" cap="none" strike="noStrike">
                <a:solidFill>
                  <a:srgbClr val="8B92B0"/>
                </a:solidFill>
                <a:latin typeface="Calibri"/>
                <a:ea typeface="Calibri"/>
                <a:cs typeface="Calibri"/>
                <a:sym typeface="Calibri"/>
              </a:rPr>
              <a:t>Google Sheets lookup, ask staff, check shelves manually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5029200" y="2606040"/>
            <a:ext cx="3657600" cy="640080"/>
          </a:xfrm>
          <a:prstGeom prst="rect">
            <a:avLst/>
          </a:prstGeom>
          <a:solidFill>
            <a:srgbClr val="252A4A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5"/>
          <p:cNvSpPr/>
          <p:nvPr/>
        </p:nvSpPr>
        <p:spPr>
          <a:xfrm>
            <a:off x="5212080" y="2606040"/>
            <a:ext cx="3474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4ADE80"/>
                </a:solidFill>
                <a:latin typeface="Calibri"/>
                <a:ea typeface="Calibri"/>
                <a:cs typeface="Calibri"/>
                <a:sym typeface="Calibri"/>
              </a:rPr>
              <a:t>After: </a:t>
            </a:r>
            <a:r>
              <a:rPr b="0" i="0" lang="en-US" sz="1200" u="none" cap="none" strike="noStrike">
                <a:solidFill>
                  <a:srgbClr val="8B92B0"/>
                </a:solidFill>
                <a:latin typeface="Calibri"/>
                <a:ea typeface="Calibri"/>
                <a:cs typeface="Calibri"/>
                <a:sym typeface="Calibri"/>
              </a:rPr>
              <a:t>Search on your phone, see shelf location instantly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5029200" y="347472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FBBF24"/>
                </a:solidFill>
                <a:latin typeface="Calibri"/>
                <a:ea typeface="Calibri"/>
                <a:cs typeface="Calibri"/>
                <a:sym typeface="Calibri"/>
              </a:rPr>
              <a:t>We import your existing spreadsheet directly. No re-entering data.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02-game-library-search.png" id="90" name="Google Shape;9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274320"/>
            <a:ext cx="4480560" cy="3383280"/>
          </a:xfrm>
          <a:prstGeom prst="rect">
            <a:avLst/>
          </a:prstGeom>
          <a:noFill/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</p:pic>
      <p:sp>
        <p:nvSpPr>
          <p:cNvPr id="91" name="Google Shape;91;p5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A1F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5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2B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2B0"/>
                </a:solidFill>
                <a:latin typeface="Calibri"/>
                <a:ea typeface="Calibri"/>
                <a:cs typeface="Calibri"/>
                <a:sym typeface="Calibri"/>
              </a:rPr>
              <a:t>GameMaster Guide  |  playgmai.com  |  tim@playgmg.com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8503920" y="4709160"/>
            <a:ext cx="457200" cy="434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2B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2B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225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6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Order Food &amp; Track Scores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544525" y="777250"/>
            <a:ext cx="4046100" cy="84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2B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B92B0"/>
                </a:solidFill>
                <a:latin typeface="Calibri"/>
                <a:ea typeface="Calibri"/>
                <a:cs typeface="Calibri"/>
                <a:sym typeface="Calibri"/>
              </a:rPr>
              <a:t>Customers order food and drinks from their phone without leaving the game. Staff get notified with the table location for delivery, or customers get a pickup alert.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08-order-panel.png" id="101" name="Google Shape;10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508760"/>
            <a:ext cx="3931920" cy="2926080"/>
          </a:xfrm>
          <a:prstGeom prst="rect">
            <a:avLst/>
          </a:prstGeom>
          <a:noFill/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</p:pic>
      <p:pic>
        <p:nvPicPr>
          <p:cNvPr descr="/home/claude/07-score-tracker.png" id="102" name="Google Shape;102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54880" y="1508760"/>
            <a:ext cx="3931920" cy="2926080"/>
          </a:xfrm>
          <a:prstGeom prst="rect">
            <a:avLst/>
          </a:prstGeom>
          <a:noFill/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</p:pic>
      <p:sp>
        <p:nvSpPr>
          <p:cNvPr id="103" name="Google Shape;103;p6"/>
          <p:cNvSpPr/>
          <p:nvPr/>
        </p:nvSpPr>
        <p:spPr>
          <a:xfrm>
            <a:off x="457200" y="4389120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2B0"/>
                </a:solidFill>
                <a:latin typeface="Calibri"/>
                <a:ea typeface="Calibri"/>
                <a:cs typeface="Calibri"/>
                <a:sym typeface="Calibri"/>
              </a:rPr>
              <a:t>F&amp;B and Game Accessory Ordering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4754880" y="4389120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2B0"/>
                </a:solidFill>
                <a:latin typeface="Calibri"/>
                <a:ea typeface="Calibri"/>
                <a:cs typeface="Calibri"/>
                <a:sym typeface="Calibri"/>
              </a:rPr>
              <a:t>Per-Game Score Tracking with Lobby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A1F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6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2B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2B0"/>
                </a:solidFill>
                <a:latin typeface="Calibri"/>
                <a:ea typeface="Calibri"/>
                <a:cs typeface="Calibri"/>
                <a:sym typeface="Calibri"/>
              </a:rPr>
              <a:t>GameMaster Guide  |  playgmai.com  |  tim@playgmg.com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8503920" y="4709160"/>
            <a:ext cx="457200" cy="434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2B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2B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4754875" y="878975"/>
            <a:ext cx="38844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2B0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8B92B0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r>
              <a:rPr b="0" i="0" lang="en-US" sz="1300" u="none" cap="none" strike="noStrike">
                <a:solidFill>
                  <a:srgbClr val="8B92B0"/>
                </a:solidFill>
                <a:latin typeface="Calibri"/>
                <a:ea typeface="Calibri"/>
                <a:cs typeface="Calibri"/>
                <a:sym typeface="Calibri"/>
              </a:rPr>
              <a:t>ame-specific score tracking keeps groups engaged for the full session.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225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Your Venue Dashboard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647372" y="996892"/>
            <a:ext cx="3129900" cy="31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2B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B92B0"/>
                </a:solidFill>
                <a:latin typeface="Calibri"/>
                <a:ea typeface="Calibri"/>
                <a:cs typeface="Calibri"/>
                <a:sym typeface="Calibri"/>
              </a:rPr>
              <a:t>See exactly what's happening in your venue.</a:t>
            </a:r>
            <a:endParaRPr b="0" i="0" sz="1300" u="none" cap="none" strike="noStrike">
              <a:solidFill>
                <a:srgbClr val="8B92B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8B92B0"/>
              </a:buClr>
              <a:buSzPts val="1300"/>
              <a:buFont typeface="Calibri"/>
              <a:buChar char="●"/>
            </a:pPr>
            <a:r>
              <a:rPr b="0" i="0" lang="en-US" sz="1300" u="none" cap="none" strike="noStrike">
                <a:solidFill>
                  <a:srgbClr val="8B92B0"/>
                </a:solidFill>
                <a:latin typeface="Calibri"/>
                <a:ea typeface="Calibri"/>
                <a:cs typeface="Calibri"/>
                <a:sym typeface="Calibri"/>
              </a:rPr>
              <a:t>Session</a:t>
            </a:r>
            <a:r>
              <a:rPr lang="en-US" sz="1300">
                <a:solidFill>
                  <a:srgbClr val="8B92B0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 sz="1300">
              <a:solidFill>
                <a:srgbClr val="8B92B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8B92B0"/>
              </a:buClr>
              <a:buSzPts val="1300"/>
              <a:buFont typeface="Calibri"/>
              <a:buChar char="●"/>
            </a:pPr>
            <a:r>
              <a:rPr lang="en-US" sz="1300">
                <a:solidFill>
                  <a:srgbClr val="8B92B0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i="0" lang="en-US" sz="1300" u="none" cap="none" strike="noStrike">
                <a:solidFill>
                  <a:srgbClr val="8B92B0"/>
                </a:solidFill>
                <a:latin typeface="Calibri"/>
                <a:ea typeface="Calibri"/>
                <a:cs typeface="Calibri"/>
                <a:sym typeface="Calibri"/>
              </a:rPr>
              <a:t>op games</a:t>
            </a:r>
            <a:endParaRPr sz="1300">
              <a:solidFill>
                <a:srgbClr val="8B92B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8B92B0"/>
              </a:buClr>
              <a:buSzPts val="1300"/>
              <a:buFont typeface="Calibri"/>
              <a:buChar char="●"/>
            </a:pPr>
            <a:r>
              <a:rPr lang="en-US" sz="1300">
                <a:solidFill>
                  <a:srgbClr val="8B92B0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0" i="0" lang="en-US" sz="1300" u="none" cap="none" strike="noStrike">
                <a:solidFill>
                  <a:srgbClr val="8B92B0"/>
                </a:solidFill>
                <a:latin typeface="Calibri"/>
                <a:ea typeface="Calibri"/>
                <a:cs typeface="Calibri"/>
                <a:sym typeface="Calibri"/>
              </a:rPr>
              <a:t>eak hours</a:t>
            </a:r>
            <a:endParaRPr sz="1300">
              <a:solidFill>
                <a:srgbClr val="8B92B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8B92B0"/>
              </a:buClr>
              <a:buSzPts val="1300"/>
              <a:buFont typeface="Calibri"/>
              <a:buChar char="●"/>
            </a:pPr>
            <a:r>
              <a:rPr lang="en-US" sz="1300">
                <a:solidFill>
                  <a:srgbClr val="8B92B0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b="0" i="0" lang="en-US" sz="1300" u="none" cap="none" strike="noStrike">
                <a:solidFill>
                  <a:srgbClr val="8B92B0"/>
                </a:solidFill>
                <a:latin typeface="Calibri"/>
                <a:ea typeface="Calibri"/>
                <a:cs typeface="Calibri"/>
                <a:sym typeface="Calibri"/>
              </a:rPr>
              <a:t>rders</a:t>
            </a:r>
            <a:endParaRPr sz="1300">
              <a:solidFill>
                <a:srgbClr val="8B92B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8B92B0"/>
              </a:buClr>
              <a:buSzPts val="1300"/>
              <a:buFont typeface="Calibri"/>
              <a:buChar char="●"/>
            </a:pPr>
            <a:r>
              <a:rPr lang="en-US" sz="1300">
                <a:solidFill>
                  <a:srgbClr val="8B92B0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="0" i="0" lang="en-US" sz="1300" u="none" cap="none" strike="noStrike">
                <a:solidFill>
                  <a:srgbClr val="8B92B0"/>
                </a:solidFill>
                <a:latin typeface="Calibri"/>
                <a:ea typeface="Calibri"/>
                <a:cs typeface="Calibri"/>
                <a:sym typeface="Calibri"/>
              </a:rPr>
              <a:t>evenue</a:t>
            </a:r>
            <a:endParaRPr sz="1300">
              <a:solidFill>
                <a:srgbClr val="8B92B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8B92B0"/>
              </a:buClr>
              <a:buSzPts val="1300"/>
              <a:buFont typeface="Calibri"/>
              <a:buChar char="●"/>
            </a:pPr>
            <a:r>
              <a:rPr lang="en-US" sz="1300">
                <a:solidFill>
                  <a:srgbClr val="8B92B0"/>
                </a:solidFill>
                <a:latin typeface="Calibri"/>
                <a:ea typeface="Calibri"/>
                <a:cs typeface="Calibri"/>
                <a:sym typeface="Calibri"/>
              </a:rPr>
              <a:t>Cu</a:t>
            </a:r>
            <a:r>
              <a:rPr b="0" i="0" lang="en-US" sz="1300" u="none" cap="none" strike="noStrike">
                <a:solidFill>
                  <a:srgbClr val="8B92B0"/>
                </a:solidFill>
                <a:latin typeface="Calibri"/>
                <a:ea typeface="Calibri"/>
                <a:cs typeface="Calibri"/>
                <a:sym typeface="Calibri"/>
              </a:rPr>
              <a:t>stomer game questions</a:t>
            </a:r>
            <a:endParaRPr sz="1300">
              <a:solidFill>
                <a:srgbClr val="8B92B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8B92B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8B92B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1300" u="none" cap="none" strike="noStrike">
                <a:solidFill>
                  <a:srgbClr val="8B92B0"/>
                </a:solidFill>
                <a:latin typeface="Calibri"/>
                <a:ea typeface="Calibri"/>
                <a:cs typeface="Calibri"/>
                <a:sym typeface="Calibri"/>
              </a:rPr>
              <a:t>ll in real time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11-dashboard-overview.png" id="116" name="Google Shape;11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03700" y="1028688"/>
            <a:ext cx="4683101" cy="3474726"/>
          </a:xfrm>
          <a:prstGeom prst="rect">
            <a:avLst/>
          </a:prstGeom>
          <a:noFill/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</p:pic>
      <p:sp>
        <p:nvSpPr>
          <p:cNvPr id="117" name="Google Shape;117;p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A1F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2B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2B0"/>
                </a:solidFill>
                <a:latin typeface="Calibri"/>
                <a:ea typeface="Calibri"/>
                <a:cs typeface="Calibri"/>
                <a:sym typeface="Calibri"/>
              </a:rPr>
              <a:t>GameMaster Guide  |  playgmai.com  |  tim@playgmg.com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8503920" y="4709160"/>
            <a:ext cx="457200" cy="434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2B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2B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225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8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Analytics That Drive Decisions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12-dashboard-games.png" id="126" name="Google Shape;12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1005840"/>
            <a:ext cx="2834640" cy="3657600"/>
          </a:xfrm>
          <a:prstGeom prst="rect">
            <a:avLst/>
          </a:prstGeom>
          <a:noFill/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</p:pic>
      <p:pic>
        <p:nvPicPr>
          <p:cNvPr descr="/home/claude/13-dashboard-qa.png" id="127" name="Google Shape;127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54680" y="1005840"/>
            <a:ext cx="2834640" cy="3657600"/>
          </a:xfrm>
          <a:prstGeom prst="rect">
            <a:avLst/>
          </a:prstGeom>
          <a:noFill/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</p:pic>
      <p:pic>
        <p:nvPicPr>
          <p:cNvPr descr="/home/claude/14-dashboard-orders.png" id="128" name="Google Shape;128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80760" y="1005840"/>
            <a:ext cx="2834640" cy="3657600"/>
          </a:xfrm>
          <a:prstGeom prst="rect">
            <a:avLst/>
          </a:prstGeom>
          <a:noFill/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</p:pic>
      <p:sp>
        <p:nvSpPr>
          <p:cNvPr id="129" name="Google Shape;129;p8"/>
          <p:cNvSpPr/>
          <p:nvPr/>
        </p:nvSpPr>
        <p:spPr>
          <a:xfrm>
            <a:off x="228600" y="731520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BBF24"/>
                </a:solidFill>
                <a:latin typeface="Calibri"/>
                <a:ea typeface="Calibri"/>
                <a:cs typeface="Calibri"/>
                <a:sym typeface="Calibri"/>
              </a:rPr>
              <a:t>Game Popularity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8"/>
          <p:cNvSpPr/>
          <p:nvPr/>
        </p:nvSpPr>
        <p:spPr>
          <a:xfrm>
            <a:off x="3154680" y="731520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Customer Questions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8"/>
          <p:cNvSpPr/>
          <p:nvPr/>
        </p:nvSpPr>
        <p:spPr>
          <a:xfrm>
            <a:off x="6080760" y="731520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475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8475F"/>
                </a:solidFill>
                <a:latin typeface="Calibri"/>
                <a:ea typeface="Calibri"/>
                <a:cs typeface="Calibri"/>
                <a:sym typeface="Calibri"/>
              </a:rPr>
              <a:t>Order Analytics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A1F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8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2B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2B0"/>
                </a:solidFill>
                <a:latin typeface="Calibri"/>
                <a:ea typeface="Calibri"/>
                <a:cs typeface="Calibri"/>
                <a:sym typeface="Calibri"/>
              </a:rPr>
              <a:t>GameMaster Guide  |  playgmai.com  |  tim@playgmg.com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8"/>
          <p:cNvSpPr/>
          <p:nvPr/>
        </p:nvSpPr>
        <p:spPr>
          <a:xfrm>
            <a:off x="8503920" y="4709160"/>
            <a:ext cx="457200" cy="434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2B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2B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225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rebuchet MS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30-Day Pilot Plan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9"/>
          <p:cNvSpPr/>
          <p:nvPr/>
        </p:nvSpPr>
        <p:spPr>
          <a:xfrm>
            <a:off x="731520" y="777240"/>
            <a:ext cx="7680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475F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E8475F"/>
                </a:solidFill>
                <a:latin typeface="Calibri"/>
                <a:ea typeface="Calibri"/>
                <a:cs typeface="Calibri"/>
                <a:sym typeface="Calibri"/>
              </a:rPr>
              <a:t>Full Premium package. No credit card. No commitment.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9"/>
          <p:cNvSpPr/>
          <p:nvPr/>
        </p:nvSpPr>
        <p:spPr>
          <a:xfrm>
            <a:off x="731520" y="1280160"/>
            <a:ext cx="7680960" cy="731520"/>
          </a:xfrm>
          <a:prstGeom prst="rect">
            <a:avLst/>
          </a:prstGeom>
          <a:solidFill>
            <a:srgbClr val="252A4A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9"/>
          <p:cNvSpPr/>
          <p:nvPr/>
        </p:nvSpPr>
        <p:spPr>
          <a:xfrm>
            <a:off x="731520" y="1280160"/>
            <a:ext cx="54864" cy="731520"/>
          </a:xfrm>
          <a:prstGeom prst="rect">
            <a:avLst/>
          </a:prstGeom>
          <a:solidFill>
            <a:srgbClr val="E847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9"/>
          <p:cNvSpPr/>
          <p:nvPr/>
        </p:nvSpPr>
        <p:spPr>
          <a:xfrm>
            <a:off x="1005840" y="137160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475F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E8475F"/>
                </a:solidFill>
                <a:latin typeface="Trebuchet MS"/>
                <a:ea typeface="Trebuchet MS"/>
                <a:cs typeface="Trebuchet MS"/>
                <a:sym typeface="Trebuchet MS"/>
              </a:rPr>
              <a:t>Week 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9"/>
          <p:cNvSpPr/>
          <p:nvPr/>
        </p:nvSpPr>
        <p:spPr>
          <a:xfrm>
            <a:off x="1005840" y="1645920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2B0"/>
                </a:solidFill>
                <a:latin typeface="Calibri"/>
                <a:ea typeface="Calibri"/>
                <a:cs typeface="Calibri"/>
                <a:sym typeface="Calibri"/>
              </a:rPr>
              <a:t>Mar 16-22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9"/>
          <p:cNvSpPr/>
          <p:nvPr/>
        </p:nvSpPr>
        <p:spPr>
          <a:xfrm>
            <a:off x="2286000" y="1353312"/>
            <a:ext cx="5943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Onboarding &amp; Game Finder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9"/>
          <p:cNvSpPr/>
          <p:nvPr/>
        </p:nvSpPr>
        <p:spPr>
          <a:xfrm>
            <a:off x="2286000" y="1627632"/>
            <a:ext cx="5943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2B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B92B0"/>
                </a:solidFill>
                <a:latin typeface="Calibri"/>
                <a:ea typeface="Calibri"/>
                <a:cs typeface="Calibri"/>
                <a:sym typeface="Calibri"/>
              </a:rPr>
              <a:t>Import your full catalog from Google Sheets. Set up shelf locations. Game teaching live on phones for all 250+ members.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9"/>
          <p:cNvSpPr/>
          <p:nvPr/>
        </p:nvSpPr>
        <p:spPr>
          <a:xfrm>
            <a:off x="731520" y="2148840"/>
            <a:ext cx="7680960" cy="731520"/>
          </a:xfrm>
          <a:prstGeom prst="rect">
            <a:avLst/>
          </a:prstGeom>
          <a:solidFill>
            <a:srgbClr val="252A4A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9"/>
          <p:cNvSpPr/>
          <p:nvPr/>
        </p:nvSpPr>
        <p:spPr>
          <a:xfrm>
            <a:off x="731520" y="2148840"/>
            <a:ext cx="54864" cy="7315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9"/>
          <p:cNvSpPr/>
          <p:nvPr/>
        </p:nvSpPr>
        <p:spPr>
          <a:xfrm>
            <a:off x="1005840" y="224028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BBF24"/>
                </a:solidFill>
                <a:latin typeface="Trebuchet MS"/>
                <a:ea typeface="Trebuchet MS"/>
                <a:cs typeface="Trebuchet MS"/>
                <a:sym typeface="Trebuchet MS"/>
              </a:rPr>
              <a:t>Week 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9"/>
          <p:cNvSpPr/>
          <p:nvPr/>
        </p:nvSpPr>
        <p:spPr>
          <a:xfrm>
            <a:off x="1005840" y="2514600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2B0"/>
                </a:solidFill>
                <a:latin typeface="Calibri"/>
                <a:ea typeface="Calibri"/>
                <a:cs typeface="Calibri"/>
                <a:sym typeface="Calibri"/>
              </a:rPr>
              <a:t>Mar 23-29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9"/>
          <p:cNvSpPr/>
          <p:nvPr/>
        </p:nvSpPr>
        <p:spPr>
          <a:xfrm>
            <a:off x="2286000" y="2221992"/>
            <a:ext cx="5943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Food &amp; Beverage Ordering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9"/>
          <p:cNvSpPr/>
          <p:nvPr/>
        </p:nvSpPr>
        <p:spPr>
          <a:xfrm>
            <a:off x="2286000" y="2496312"/>
            <a:ext cx="5943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2B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B92B0"/>
                </a:solidFill>
                <a:latin typeface="Calibri"/>
                <a:ea typeface="Calibri"/>
                <a:cs typeface="Calibri"/>
                <a:sym typeface="Calibri"/>
              </a:rPr>
              <a:t>Menu loaded, ordering live. Customers order from their phones. Pickup notifications or staff table delivery alerts.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9"/>
          <p:cNvSpPr/>
          <p:nvPr/>
        </p:nvSpPr>
        <p:spPr>
          <a:xfrm>
            <a:off x="731520" y="3017520"/>
            <a:ext cx="7680960" cy="731520"/>
          </a:xfrm>
          <a:prstGeom prst="rect">
            <a:avLst/>
          </a:prstGeom>
          <a:solidFill>
            <a:srgbClr val="252A4A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9"/>
          <p:cNvSpPr/>
          <p:nvPr/>
        </p:nvSpPr>
        <p:spPr>
          <a:xfrm>
            <a:off x="731520" y="3017520"/>
            <a:ext cx="54864" cy="73152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9"/>
          <p:cNvSpPr/>
          <p:nvPr/>
        </p:nvSpPr>
        <p:spPr>
          <a:xfrm>
            <a:off x="1005840" y="310896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2DD4BF"/>
                </a:solidFill>
                <a:latin typeface="Trebuchet MS"/>
                <a:ea typeface="Trebuchet MS"/>
                <a:cs typeface="Trebuchet MS"/>
                <a:sym typeface="Trebuchet MS"/>
              </a:rPr>
              <a:t>Week 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9"/>
          <p:cNvSpPr/>
          <p:nvPr/>
        </p:nvSpPr>
        <p:spPr>
          <a:xfrm>
            <a:off x="1005840" y="3383280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2B0"/>
                </a:solidFill>
                <a:latin typeface="Calibri"/>
                <a:ea typeface="Calibri"/>
                <a:cs typeface="Calibri"/>
                <a:sym typeface="Calibri"/>
              </a:rPr>
              <a:t>Mar 30 - Apr 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9"/>
          <p:cNvSpPr/>
          <p:nvPr/>
        </p:nvSpPr>
        <p:spPr>
          <a:xfrm>
            <a:off x="2286000" y="3090672"/>
            <a:ext cx="5943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Optimization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9"/>
          <p:cNvSpPr/>
          <p:nvPr/>
        </p:nvSpPr>
        <p:spPr>
          <a:xfrm>
            <a:off x="2286000" y="3364992"/>
            <a:ext cx="5943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2B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B92B0"/>
                </a:solidFill>
                <a:latin typeface="Calibri"/>
                <a:ea typeface="Calibri"/>
                <a:cs typeface="Calibri"/>
                <a:sym typeface="Calibri"/>
              </a:rPr>
              <a:t>Review analytics: top games, customer questions, order volume. Fine-tune based on real usage patterns and staff feedback.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9"/>
          <p:cNvSpPr/>
          <p:nvPr/>
        </p:nvSpPr>
        <p:spPr>
          <a:xfrm>
            <a:off x="731520" y="3886200"/>
            <a:ext cx="7680960" cy="731520"/>
          </a:xfrm>
          <a:prstGeom prst="rect">
            <a:avLst/>
          </a:prstGeom>
          <a:solidFill>
            <a:srgbClr val="252A4A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9"/>
          <p:cNvSpPr/>
          <p:nvPr/>
        </p:nvSpPr>
        <p:spPr>
          <a:xfrm>
            <a:off x="731520" y="3886200"/>
            <a:ext cx="54864" cy="73152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9"/>
          <p:cNvSpPr/>
          <p:nvPr/>
        </p:nvSpPr>
        <p:spPr>
          <a:xfrm>
            <a:off x="1005840" y="397764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4ADE80"/>
                </a:solidFill>
                <a:latin typeface="Trebuchet MS"/>
                <a:ea typeface="Trebuchet MS"/>
                <a:cs typeface="Trebuchet MS"/>
                <a:sym typeface="Trebuchet MS"/>
              </a:rPr>
              <a:t>Week 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9"/>
          <p:cNvSpPr/>
          <p:nvPr/>
        </p:nvSpPr>
        <p:spPr>
          <a:xfrm>
            <a:off x="1005840" y="4251960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2B0"/>
                </a:solidFill>
                <a:latin typeface="Calibri"/>
                <a:ea typeface="Calibri"/>
                <a:cs typeface="Calibri"/>
                <a:sym typeface="Calibri"/>
              </a:rPr>
              <a:t>Apr 6-12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9"/>
          <p:cNvSpPr/>
          <p:nvPr/>
        </p:nvSpPr>
        <p:spPr>
          <a:xfrm>
            <a:off x="2286000" y="3959352"/>
            <a:ext cx="5943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Results Review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9"/>
          <p:cNvSpPr/>
          <p:nvPr/>
        </p:nvSpPr>
        <p:spPr>
          <a:xfrm>
            <a:off x="2286000" y="4233672"/>
            <a:ext cx="5943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2B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B92B0"/>
                </a:solidFill>
                <a:latin typeface="Calibri"/>
                <a:ea typeface="Calibri"/>
                <a:cs typeface="Calibri"/>
                <a:sym typeface="Calibri"/>
              </a:rPr>
              <a:t>Sit down together, walk through the numbers. Impact on operations, staff feedback, customer satisfaction. Discuss next steps.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9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A1F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9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2B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2B0"/>
                </a:solidFill>
                <a:latin typeface="Calibri"/>
                <a:ea typeface="Calibri"/>
                <a:cs typeface="Calibri"/>
                <a:sym typeface="Calibri"/>
              </a:rPr>
              <a:t>GameMaster Guide  |  playgmai.com  |  tim@playgmg.com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9"/>
          <p:cNvSpPr/>
          <p:nvPr/>
        </p:nvSpPr>
        <p:spPr>
          <a:xfrm>
            <a:off x="8503920" y="4709160"/>
            <a:ext cx="457200" cy="434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2B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2B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225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What's Included in Your Pilot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0"/>
          <p:cNvSpPr/>
          <p:nvPr/>
        </p:nvSpPr>
        <p:spPr>
          <a:xfrm>
            <a:off x="731520" y="100584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4ADE80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0"/>
          <p:cNvSpPr/>
          <p:nvPr/>
        </p:nvSpPr>
        <p:spPr>
          <a:xfrm>
            <a:off x="1188720" y="1005840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AF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E8EAF0"/>
                </a:solidFill>
                <a:latin typeface="Calibri"/>
                <a:ea typeface="Calibri"/>
                <a:cs typeface="Calibri"/>
                <a:sym typeface="Calibri"/>
              </a:rPr>
              <a:t>Full game library (200+ games)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0"/>
          <p:cNvSpPr/>
          <p:nvPr/>
        </p:nvSpPr>
        <p:spPr>
          <a:xfrm>
            <a:off x="731520" y="150876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4ADE80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0"/>
          <p:cNvSpPr/>
          <p:nvPr/>
        </p:nvSpPr>
        <p:spPr>
          <a:xfrm>
            <a:off x="1188720" y="1508760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AF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E8EAF0"/>
                </a:solidFill>
                <a:latin typeface="Calibri"/>
                <a:ea typeface="Calibri"/>
                <a:cs typeface="Calibri"/>
                <a:sym typeface="Calibri"/>
              </a:rPr>
              <a:t>Voice-guided game teaching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0"/>
          <p:cNvSpPr/>
          <p:nvPr/>
        </p:nvSpPr>
        <p:spPr>
          <a:xfrm>
            <a:off x="731520" y="201168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4ADE80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0"/>
          <p:cNvSpPr/>
          <p:nvPr/>
        </p:nvSpPr>
        <p:spPr>
          <a:xfrm>
            <a:off x="1188720" y="2011680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AF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E8EAF0"/>
                </a:solidFill>
                <a:latin typeface="Calibri"/>
                <a:ea typeface="Calibri"/>
                <a:cs typeface="Calibri"/>
                <a:sym typeface="Calibri"/>
              </a:rPr>
              <a:t>AI Q&amp;A for mid-game questions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0"/>
          <p:cNvSpPr/>
          <p:nvPr/>
        </p:nvSpPr>
        <p:spPr>
          <a:xfrm>
            <a:off x="731520" y="251460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4ADE80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0"/>
          <p:cNvSpPr/>
          <p:nvPr/>
        </p:nvSpPr>
        <p:spPr>
          <a:xfrm>
            <a:off x="1188720" y="2514600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AF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E8EAF0"/>
                </a:solidFill>
                <a:latin typeface="Calibri"/>
                <a:ea typeface="Calibri"/>
                <a:cs typeface="Calibri"/>
                <a:sym typeface="Calibri"/>
              </a:rPr>
              <a:t>Game Finder with shelf locations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0"/>
          <p:cNvSpPr/>
          <p:nvPr/>
        </p:nvSpPr>
        <p:spPr>
          <a:xfrm>
            <a:off x="731520" y="301752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4ADE80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0"/>
          <p:cNvSpPr/>
          <p:nvPr/>
        </p:nvSpPr>
        <p:spPr>
          <a:xfrm>
            <a:off x="1188720" y="3017520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AF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E8EAF0"/>
                </a:solidFill>
                <a:latin typeface="Calibri"/>
                <a:ea typeface="Calibri"/>
                <a:cs typeface="Calibri"/>
                <a:sym typeface="Calibri"/>
              </a:rPr>
              <a:t>CSV import from your Google Sheets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0"/>
          <p:cNvSpPr/>
          <p:nvPr/>
        </p:nvSpPr>
        <p:spPr>
          <a:xfrm>
            <a:off x="731520" y="352044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4ADE80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0"/>
          <p:cNvSpPr/>
          <p:nvPr/>
        </p:nvSpPr>
        <p:spPr>
          <a:xfrm>
            <a:off x="1188720" y="3520440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AF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E8EAF0"/>
                </a:solidFill>
                <a:latin typeface="Calibri"/>
                <a:ea typeface="Calibri"/>
                <a:cs typeface="Calibri"/>
                <a:sym typeface="Calibri"/>
              </a:rPr>
              <a:t>Food &amp; beverage ordering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0"/>
          <p:cNvSpPr/>
          <p:nvPr/>
        </p:nvSpPr>
        <p:spPr>
          <a:xfrm>
            <a:off x="4846320" y="100584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4ADE80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0"/>
          <p:cNvSpPr/>
          <p:nvPr/>
        </p:nvSpPr>
        <p:spPr>
          <a:xfrm>
            <a:off x="5303520" y="1005840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AF0"/>
              </a:buClr>
              <a:buSzPts val="1400"/>
              <a:buFont typeface="Calibri"/>
              <a:buNone/>
            </a:pPr>
            <a:r>
              <a:rPr lang="en-US">
                <a:solidFill>
                  <a:srgbClr val="E8EAF0"/>
                </a:solidFill>
                <a:latin typeface="Calibri"/>
                <a:ea typeface="Calibri"/>
                <a:cs typeface="Calibri"/>
                <a:sym typeface="Calibri"/>
              </a:rPr>
              <a:t>Weekly additions for high-priority games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0"/>
          <p:cNvSpPr/>
          <p:nvPr/>
        </p:nvSpPr>
        <p:spPr>
          <a:xfrm>
            <a:off x="4846320" y="150876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4ADE80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0"/>
          <p:cNvSpPr/>
          <p:nvPr/>
        </p:nvSpPr>
        <p:spPr>
          <a:xfrm>
            <a:off x="5303520" y="1508760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AF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E8EAF0"/>
                </a:solidFill>
                <a:latin typeface="Calibri"/>
                <a:ea typeface="Calibri"/>
                <a:cs typeface="Calibri"/>
                <a:sym typeface="Calibri"/>
              </a:rPr>
              <a:t>Score tracking with multiplayer lobby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0"/>
          <p:cNvSpPr/>
          <p:nvPr/>
        </p:nvSpPr>
        <p:spPr>
          <a:xfrm>
            <a:off x="4846320" y="201168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4ADE80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0"/>
          <p:cNvSpPr/>
          <p:nvPr/>
        </p:nvSpPr>
        <p:spPr>
          <a:xfrm>
            <a:off x="5303520" y="2011680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AF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E8EAF0"/>
                </a:solidFill>
                <a:latin typeface="Calibri"/>
                <a:ea typeface="Calibri"/>
                <a:cs typeface="Calibri"/>
                <a:sym typeface="Calibri"/>
              </a:rPr>
              <a:t>Venue analytics dashboard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0"/>
          <p:cNvSpPr/>
          <p:nvPr/>
        </p:nvSpPr>
        <p:spPr>
          <a:xfrm>
            <a:off x="4846320" y="251460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4ADE80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0"/>
          <p:cNvSpPr/>
          <p:nvPr/>
        </p:nvSpPr>
        <p:spPr>
          <a:xfrm>
            <a:off x="5303520" y="2514600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AF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E8EAF0"/>
                </a:solidFill>
                <a:latin typeface="Calibri"/>
                <a:ea typeface="Calibri"/>
                <a:cs typeface="Calibri"/>
                <a:sym typeface="Calibri"/>
              </a:rPr>
              <a:t>Game sales &amp; accessory prompts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0"/>
          <p:cNvSpPr/>
          <p:nvPr/>
        </p:nvSpPr>
        <p:spPr>
          <a:xfrm>
            <a:off x="4846320" y="301752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4ADE80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0"/>
          <p:cNvSpPr/>
          <p:nvPr/>
        </p:nvSpPr>
        <p:spPr>
          <a:xfrm>
            <a:off x="5303520" y="3017520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AF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E8EAF0"/>
                </a:solidFill>
                <a:latin typeface="Calibri"/>
                <a:ea typeface="Calibri"/>
                <a:cs typeface="Calibri"/>
                <a:sym typeface="Calibri"/>
              </a:rPr>
              <a:t>Setup, configuration &amp; tech support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0"/>
          <p:cNvSpPr/>
          <p:nvPr/>
        </p:nvSpPr>
        <p:spPr>
          <a:xfrm>
            <a:off x="731520" y="3931920"/>
            <a:ext cx="7680960" cy="640080"/>
          </a:xfrm>
          <a:prstGeom prst="rect">
            <a:avLst/>
          </a:prstGeom>
          <a:solidFill>
            <a:srgbClr val="252A4A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0"/>
          <p:cNvSpPr/>
          <p:nvPr/>
        </p:nvSpPr>
        <p:spPr>
          <a:xfrm>
            <a:off x="914400" y="393192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2B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8B92B0"/>
                </a:solidFill>
                <a:latin typeface="Calibri"/>
                <a:ea typeface="Calibri"/>
                <a:cs typeface="Calibri"/>
                <a:sym typeface="Calibri"/>
              </a:rPr>
              <a:t>Cost for the 30-day pilot:  </a:t>
            </a:r>
            <a:r>
              <a:rPr b="1" i="0" lang="en-US" sz="2800" u="none" cap="none" strike="noStrike">
                <a:solidFill>
                  <a:srgbClr val="4ADE80"/>
                </a:solidFill>
                <a:latin typeface="Calibri"/>
                <a:ea typeface="Calibri"/>
                <a:cs typeface="Calibri"/>
                <a:sym typeface="Calibri"/>
              </a:rPr>
              <a:t>$0</a:t>
            </a:r>
            <a:r>
              <a:rPr b="0" i="0" lang="en-US" sz="1200" u="none" cap="none" strike="noStrike">
                <a:solidFill>
                  <a:srgbClr val="8B92B0"/>
                </a:solidFill>
                <a:latin typeface="Calibri"/>
                <a:ea typeface="Calibri"/>
                <a:cs typeface="Calibri"/>
                <a:sym typeface="Calibri"/>
              </a:rPr>
              <a:t>   No credit card. No auto-renewal. No obligation.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0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A1F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0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2B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2B0"/>
                </a:solidFill>
                <a:latin typeface="Calibri"/>
                <a:ea typeface="Calibri"/>
                <a:cs typeface="Calibri"/>
                <a:sym typeface="Calibri"/>
              </a:rPr>
              <a:t>GameMaster Guide  |  playgmai.com  |  tim@playgmg.com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0"/>
          <p:cNvSpPr/>
          <p:nvPr/>
        </p:nvSpPr>
        <p:spPr>
          <a:xfrm>
            <a:off x="8503920" y="4709160"/>
            <a:ext cx="457200" cy="434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2B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2B0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0"/>
          <p:cNvSpPr/>
          <p:nvPr/>
        </p:nvSpPr>
        <p:spPr>
          <a:xfrm>
            <a:off x="4846320" y="3474715"/>
            <a:ext cx="365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4ADE80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0"/>
          <p:cNvSpPr/>
          <p:nvPr/>
        </p:nvSpPr>
        <p:spPr>
          <a:xfrm>
            <a:off x="5303520" y="3474715"/>
            <a:ext cx="3383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AF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E8EAF0"/>
                </a:solidFill>
                <a:latin typeface="Calibri"/>
                <a:ea typeface="Calibri"/>
                <a:cs typeface="Calibri"/>
                <a:sym typeface="Calibri"/>
              </a:rPr>
              <a:t>Multi-device support (unlimited phones)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225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47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1"/>
          <p:cNvSpPr/>
          <p:nvPr/>
        </p:nvSpPr>
        <p:spPr>
          <a:xfrm>
            <a:off x="731520" y="731520"/>
            <a:ext cx="76809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Trebuchet MS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Try</a:t>
            </a:r>
            <a:r>
              <a:rPr b="1" lang="en-US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b="1" i="0" lang="en-US" sz="3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Now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1"/>
          <p:cNvSpPr/>
          <p:nvPr/>
        </p:nvSpPr>
        <p:spPr>
          <a:xfrm>
            <a:off x="731520" y="1645920"/>
            <a:ext cx="3657600" cy="1828800"/>
          </a:xfrm>
          <a:prstGeom prst="rect">
            <a:avLst/>
          </a:prstGeom>
          <a:solidFill>
            <a:srgbClr val="252A4A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1"/>
          <p:cNvSpPr/>
          <p:nvPr/>
        </p:nvSpPr>
        <p:spPr>
          <a:xfrm>
            <a:off x="731520" y="1645920"/>
            <a:ext cx="54864" cy="1828800"/>
          </a:xfrm>
          <a:prstGeom prst="rect">
            <a:avLst/>
          </a:prstGeom>
          <a:solidFill>
            <a:srgbClr val="E847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1"/>
          <p:cNvSpPr/>
          <p:nvPr/>
        </p:nvSpPr>
        <p:spPr>
          <a:xfrm>
            <a:off x="1005840" y="178308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475F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E8475F"/>
                </a:solidFill>
                <a:latin typeface="Trebuchet MS"/>
                <a:ea typeface="Trebuchet MS"/>
                <a:cs typeface="Trebuchet MS"/>
                <a:sym typeface="Trebuchet MS"/>
              </a:rPr>
              <a:t>Demo Access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1"/>
          <p:cNvSpPr/>
          <p:nvPr/>
        </p:nvSpPr>
        <p:spPr>
          <a:xfrm>
            <a:off x="1005840" y="224028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2B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8B92B0"/>
                </a:solidFill>
                <a:latin typeface="Calibri"/>
                <a:ea typeface="Calibri"/>
                <a:cs typeface="Calibri"/>
                <a:sym typeface="Calibri"/>
              </a:rPr>
              <a:t>URL:  </a:t>
            </a: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playgmai.com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1"/>
          <p:cNvSpPr/>
          <p:nvPr/>
        </p:nvSpPr>
        <p:spPr>
          <a:xfrm>
            <a:off x="1005840" y="256032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2B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8B92B0"/>
                </a:solidFill>
                <a:latin typeface="Calibri"/>
                <a:ea typeface="Calibri"/>
                <a:cs typeface="Calibri"/>
                <a:sym typeface="Calibri"/>
              </a:rPr>
              <a:t>Login:  </a:t>
            </a: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demo@meepleville.com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1"/>
          <p:cNvSpPr/>
          <p:nvPr/>
        </p:nvSpPr>
        <p:spPr>
          <a:xfrm>
            <a:off x="1005840" y="288036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2B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8B92B0"/>
                </a:solidFill>
                <a:latin typeface="Calibri"/>
                <a:ea typeface="Calibri"/>
                <a:cs typeface="Calibri"/>
                <a:sym typeface="Calibri"/>
              </a:rPr>
              <a:t>Password:  </a:t>
            </a: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gmg2026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1"/>
          <p:cNvSpPr/>
          <p:nvPr/>
        </p:nvSpPr>
        <p:spPr>
          <a:xfrm>
            <a:off x="4754880" y="1645920"/>
            <a:ext cx="3657600" cy="1828800"/>
          </a:xfrm>
          <a:prstGeom prst="rect">
            <a:avLst/>
          </a:prstGeom>
          <a:solidFill>
            <a:srgbClr val="252A4A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1"/>
          <p:cNvSpPr/>
          <p:nvPr/>
        </p:nvSpPr>
        <p:spPr>
          <a:xfrm>
            <a:off x="4754880" y="1645920"/>
            <a:ext cx="54864" cy="18288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1"/>
          <p:cNvSpPr/>
          <p:nvPr/>
        </p:nvSpPr>
        <p:spPr>
          <a:xfrm>
            <a:off x="5029200" y="178308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2DD4BF"/>
                </a:solidFill>
                <a:latin typeface="Trebuchet MS"/>
                <a:ea typeface="Trebuchet MS"/>
                <a:cs typeface="Trebuchet MS"/>
                <a:sym typeface="Trebuchet MS"/>
              </a:rPr>
              <a:t>Contact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1"/>
          <p:cNvSpPr/>
          <p:nvPr/>
        </p:nvSpPr>
        <p:spPr>
          <a:xfrm>
            <a:off x="5029200" y="224028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Tim Pham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1"/>
          <p:cNvSpPr/>
          <p:nvPr/>
        </p:nvSpPr>
        <p:spPr>
          <a:xfrm>
            <a:off x="5992225" y="2240338"/>
            <a:ext cx="3108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2B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8B92B0"/>
                </a:solidFill>
                <a:latin typeface="Calibri"/>
                <a:ea typeface="Calibri"/>
                <a:cs typeface="Calibri"/>
                <a:sym typeface="Calibri"/>
              </a:rPr>
              <a:t>GameMaster Guide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1"/>
          <p:cNvSpPr/>
          <p:nvPr/>
        </p:nvSpPr>
        <p:spPr>
          <a:xfrm>
            <a:off x="5029225" y="2560378"/>
            <a:ext cx="3108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AF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E8EAF0"/>
                </a:solidFill>
                <a:latin typeface="Calibri"/>
                <a:ea typeface="Calibri"/>
                <a:cs typeface="Calibri"/>
                <a:sym typeface="Calibri"/>
              </a:rPr>
              <a:t>tim@playgmg.com</a:t>
            </a:r>
            <a:endParaRPr>
              <a:solidFill>
                <a:srgbClr val="E8EA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1"/>
          <p:cNvSpPr/>
          <p:nvPr/>
        </p:nvSpPr>
        <p:spPr>
          <a:xfrm>
            <a:off x="731520" y="4023360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2B0"/>
              </a:buClr>
              <a:buSzPts val="1800"/>
              <a:buFont typeface="Trebuchet MS"/>
              <a:buNone/>
            </a:pPr>
            <a:r>
              <a:rPr b="0" i="1" lang="en-US" sz="1800" u="none" cap="none" strike="noStrike">
                <a:solidFill>
                  <a:srgbClr val="8B92B0"/>
                </a:solidFill>
                <a:latin typeface="Trebuchet MS"/>
                <a:ea typeface="Trebuchet MS"/>
                <a:cs typeface="Trebuchet MS"/>
                <a:sym typeface="Trebuchet MS"/>
              </a:rPr>
              <a:t>Let's get Meepleville set up.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1"/>
          <p:cNvSpPr/>
          <p:nvPr/>
        </p:nvSpPr>
        <p:spPr>
          <a:xfrm>
            <a:off x="5029225" y="2926140"/>
            <a:ext cx="3108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AF0"/>
              </a:buClr>
              <a:buSzPts val="1400"/>
              <a:buFont typeface="Calibri"/>
              <a:buNone/>
            </a:pPr>
            <a:r>
              <a:rPr lang="en-US">
                <a:solidFill>
                  <a:srgbClr val="E8EAF0"/>
                </a:solidFill>
                <a:latin typeface="Calibri"/>
                <a:ea typeface="Calibri"/>
                <a:cs typeface="Calibri"/>
                <a:sym typeface="Calibri"/>
              </a:rPr>
              <a:t>(714) 251-6078</a:t>
            </a:r>
            <a:endParaRPr>
              <a:solidFill>
                <a:srgbClr val="E8EA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2026-03-04T00:38:08Z</dcterms:created>
  <dc:creator>Tim Pham</dc:creator>
</cp:coreProperties>
</file>